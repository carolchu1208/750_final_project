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oboto"/>
      <p:regular r:id="rId20"/>
      <p:bold r:id="rId21"/>
      <p:italic r:id="rId22"/>
      <p:boldItalic r:id="rId23"/>
    </p:embeddedFont>
    <p:embeddedFont>
      <p:font typeface="Nunito"/>
      <p:regular r:id="rId24"/>
      <p:bold r:id="rId25"/>
      <p:italic r:id="rId26"/>
      <p:boldItalic r:id="rId27"/>
    </p:embeddedFont>
    <p:embeddedFont>
      <p:font typeface="Lora"/>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Nunito-regular.fntdata"/><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italic.fntdata"/><Relationship Id="rId25" Type="http://schemas.openxmlformats.org/officeDocument/2006/relationships/font" Target="fonts/Nunito-bold.fntdata"/><Relationship Id="rId28" Type="http://schemas.openxmlformats.org/officeDocument/2006/relationships/font" Target="fonts/Lora-regular.fntdata"/><Relationship Id="rId27"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ora-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ora-boldItalic.fntdata"/><Relationship Id="rId30" Type="http://schemas.openxmlformats.org/officeDocument/2006/relationships/font" Target="fonts/Lora-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bb8f039f4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bb8f039f4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b3a2e54198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b3a2e54198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a:t>
            </a:r>
            <a:r>
              <a:rPr lang="en"/>
              <a:t>是因為隔離嗎？ 因為曝光越大就越容易中獎</a:t>
            </a:r>
            <a:endParaRPr/>
          </a:p>
          <a:p>
            <a:pPr indent="0" lvl="0" marL="0" rtl="0" algn="l">
              <a:spcBef>
                <a:spcPts val="0"/>
              </a:spcBef>
              <a:spcAft>
                <a:spcPts val="0"/>
              </a:spcAft>
              <a:buNone/>
            </a:pPr>
            <a:r>
              <a:rPr lang="en"/>
              <a:t>2.在傳播理論中，低學歷者和高學歷者他們得知和傳播訊息的方式並不一樣</a:t>
            </a:r>
            <a:endParaRPr/>
          </a:p>
          <a:p>
            <a:pPr indent="0" lvl="0" marL="0" rtl="0" algn="l">
              <a:spcBef>
                <a:spcPts val="0"/>
              </a:spcBef>
              <a:spcAft>
                <a:spcPts val="0"/>
              </a:spcAft>
              <a:buNone/>
            </a:pPr>
            <a:r>
              <a:rPr lang="en"/>
              <a:t>針對學歷少的我們公開少，他們就只知道自己眼前得世界</a:t>
            </a:r>
            <a:endParaRPr/>
          </a:p>
          <a:p>
            <a:pPr indent="0" lvl="0" marL="0" rtl="0" algn="l">
              <a:spcBef>
                <a:spcPts val="0"/>
              </a:spcBef>
              <a:spcAft>
                <a:spcPts val="0"/>
              </a:spcAft>
              <a:buNone/>
            </a:pPr>
            <a:r>
              <a:rPr lang="en"/>
              <a:t>針對學歷多的我們公開多，讓他們根據自己知道的知識判斷</a:t>
            </a:r>
            <a:endParaRPr/>
          </a:p>
          <a:p>
            <a:pPr indent="0" lvl="0" marL="0" rtl="0" algn="l">
              <a:spcBef>
                <a:spcPts val="0"/>
              </a:spcBef>
              <a:spcAft>
                <a:spcPts val="0"/>
              </a:spcAft>
              <a:buNone/>
            </a:pPr>
            <a:r>
              <a:rPr lang="en"/>
              <a:t>難道面對疫情不一樣嗎</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b3a2e54198_0_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b3a2e54198_0_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b39db8b3d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b39db8b3d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b389a4b01a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b389a4b01a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b389a4b01a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b389a4b01a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b3a2e54198_0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b3a2e54198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b389a4b01a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b389a4b01a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b389a4b01a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b389a4b01a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b389a4b01a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b389a4b01a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b389a4b01a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b389a4b01a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b39db8b3d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b39db8b3d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b3a2e54198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b3a2e54198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7.jpg"/><Relationship Id="rId5" Type="http://schemas.openxmlformats.org/officeDocument/2006/relationships/image" Target="../media/image6.jpg"/><Relationship Id="rId6"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13.png"/><Relationship Id="rId5"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www.norc.org/Research/Projects/Pages/covid-response-tracking-study.aspx" TargetMode="External"/><Relationship Id="rId4" Type="http://schemas.openxmlformats.org/officeDocument/2006/relationships/hyperlink" Target="https://www.covid-impact.org" TargetMode="External"/><Relationship Id="rId5"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845750" y="1226350"/>
            <a:ext cx="7211400" cy="1849500"/>
          </a:xfrm>
          <a:prstGeom prst="rect">
            <a:avLst/>
          </a:prstGeom>
        </p:spPr>
        <p:txBody>
          <a:bodyPr anchorCtr="0" anchor="b" bIns="91425" lIns="91425" spcFirstLastPara="1" rIns="91425" wrap="square" tIns="91425">
            <a:normAutofit fontScale="90000"/>
          </a:bodyPr>
          <a:lstStyle/>
          <a:p>
            <a:pPr indent="0" lvl="0" marL="0" rtl="0" algn="l">
              <a:lnSpc>
                <a:spcPct val="140000"/>
              </a:lnSpc>
              <a:spcBef>
                <a:spcPts val="0"/>
              </a:spcBef>
              <a:spcAft>
                <a:spcPts val="0"/>
              </a:spcAft>
              <a:buNone/>
            </a:pPr>
            <a:r>
              <a:rPr b="1" lang="en" sz="3077">
                <a:solidFill>
                  <a:srgbClr val="000000"/>
                </a:solidFill>
                <a:latin typeface="Lora"/>
                <a:ea typeface="Lora"/>
                <a:cs typeface="Lora"/>
                <a:sym typeface="Lora"/>
              </a:rPr>
              <a:t>Impacts from the Covid-19 Pandemic Across the United States (2020)</a:t>
            </a:r>
            <a:endParaRPr b="1" sz="3077">
              <a:solidFill>
                <a:srgbClr val="000000"/>
              </a:solidFill>
              <a:latin typeface="Lora"/>
              <a:ea typeface="Lora"/>
              <a:cs typeface="Lora"/>
              <a:sym typeface="Lora"/>
            </a:endParaRPr>
          </a:p>
          <a:p>
            <a:pPr indent="0" lvl="0" marL="0" rtl="0" algn="ctr">
              <a:spcBef>
                <a:spcPts val="0"/>
              </a:spcBef>
              <a:spcAft>
                <a:spcPts val="0"/>
              </a:spcAft>
              <a:buNone/>
            </a:pPr>
            <a:r>
              <a:t/>
            </a:r>
            <a:endParaRPr/>
          </a:p>
        </p:txBody>
      </p:sp>
      <p:sp>
        <p:nvSpPr>
          <p:cNvPr id="55" name="Google Shape;55;p13"/>
          <p:cNvSpPr txBox="1"/>
          <p:nvPr>
            <p:ph idx="1" type="subTitle"/>
          </p:nvPr>
        </p:nvSpPr>
        <p:spPr>
          <a:xfrm>
            <a:off x="89525" y="2380450"/>
            <a:ext cx="4255500" cy="695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900">
                <a:solidFill>
                  <a:srgbClr val="B45F06"/>
                </a:solidFill>
              </a:rPr>
              <a:t>Alex Cheung, Carol Chu</a:t>
            </a:r>
            <a:endParaRPr sz="1900">
              <a:solidFill>
                <a:srgbClr val="B45F06"/>
              </a:solidFill>
            </a:endParaRPr>
          </a:p>
        </p:txBody>
      </p:sp>
      <p:pic>
        <p:nvPicPr>
          <p:cNvPr id="56" name="Google Shape;56;p13"/>
          <p:cNvPicPr preferRelativeResize="0"/>
          <p:nvPr/>
        </p:nvPicPr>
        <p:blipFill rotWithShape="1">
          <a:blip r:embed="rId3">
            <a:alphaModFix/>
          </a:blip>
          <a:srcRect b="0" l="0" r="62939" t="70114"/>
          <a:stretch/>
        </p:blipFill>
        <p:spPr>
          <a:xfrm>
            <a:off x="3590675" y="3140700"/>
            <a:ext cx="916475" cy="695400"/>
          </a:xfrm>
          <a:prstGeom prst="rect">
            <a:avLst/>
          </a:prstGeom>
          <a:noFill/>
          <a:ln>
            <a:noFill/>
          </a:ln>
        </p:spPr>
      </p:pic>
      <p:pic>
        <p:nvPicPr>
          <p:cNvPr id="57" name="Google Shape;57;p13"/>
          <p:cNvPicPr preferRelativeResize="0"/>
          <p:nvPr/>
        </p:nvPicPr>
        <p:blipFill rotWithShape="1">
          <a:blip r:embed="rId3">
            <a:alphaModFix/>
          </a:blip>
          <a:srcRect b="37847" l="-1882" r="72599" t="32267"/>
          <a:stretch/>
        </p:blipFill>
        <p:spPr>
          <a:xfrm>
            <a:off x="5674475" y="3791800"/>
            <a:ext cx="724174" cy="695400"/>
          </a:xfrm>
          <a:prstGeom prst="rect">
            <a:avLst/>
          </a:prstGeom>
          <a:noFill/>
          <a:ln>
            <a:noFill/>
          </a:ln>
        </p:spPr>
      </p:pic>
      <p:pic>
        <p:nvPicPr>
          <p:cNvPr id="58" name="Google Shape;58;p13"/>
          <p:cNvPicPr preferRelativeResize="0"/>
          <p:nvPr/>
        </p:nvPicPr>
        <p:blipFill rotWithShape="1">
          <a:blip r:embed="rId3">
            <a:alphaModFix/>
          </a:blip>
          <a:srcRect b="70114" l="0" r="70716" t="0"/>
          <a:stretch/>
        </p:blipFill>
        <p:spPr>
          <a:xfrm>
            <a:off x="909000" y="3286925"/>
            <a:ext cx="724174" cy="695400"/>
          </a:xfrm>
          <a:prstGeom prst="rect">
            <a:avLst/>
          </a:prstGeom>
          <a:noFill/>
          <a:ln>
            <a:noFill/>
          </a:ln>
        </p:spPr>
      </p:pic>
      <p:pic>
        <p:nvPicPr>
          <p:cNvPr id="59" name="Google Shape;59;p13"/>
          <p:cNvPicPr preferRelativeResize="0"/>
          <p:nvPr/>
        </p:nvPicPr>
        <p:blipFill rotWithShape="1">
          <a:blip r:embed="rId3">
            <a:alphaModFix/>
          </a:blip>
          <a:srcRect b="70114" l="68619" r="-3194" t="0"/>
          <a:stretch/>
        </p:blipFill>
        <p:spPr>
          <a:xfrm>
            <a:off x="7598375" y="3836100"/>
            <a:ext cx="855050" cy="695400"/>
          </a:xfrm>
          <a:prstGeom prst="rect">
            <a:avLst/>
          </a:prstGeom>
          <a:noFill/>
          <a:ln>
            <a:noFill/>
          </a:ln>
        </p:spPr>
      </p:pic>
      <p:pic>
        <p:nvPicPr>
          <p:cNvPr id="60" name="Google Shape;60;p13"/>
          <p:cNvPicPr preferRelativeResize="0"/>
          <p:nvPr/>
        </p:nvPicPr>
        <p:blipFill rotWithShape="1">
          <a:blip r:embed="rId3">
            <a:alphaModFix/>
          </a:blip>
          <a:srcRect b="0" l="67744" r="-2320" t="70114"/>
          <a:stretch/>
        </p:blipFill>
        <p:spPr>
          <a:xfrm>
            <a:off x="5674463" y="2313175"/>
            <a:ext cx="855050" cy="6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nvSpPr>
        <p:spPr>
          <a:xfrm>
            <a:off x="261200" y="271250"/>
            <a:ext cx="86997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Data Source</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We collected information from the Covid Impact Survey and the Covid Tracking Survey from NORC at the University of Chicago</a:t>
            </a:r>
            <a:endParaRPr/>
          </a:p>
          <a:p>
            <a:pPr indent="-317500" lvl="0" marL="457200" rtl="0" algn="l">
              <a:spcBef>
                <a:spcPts val="0"/>
              </a:spcBef>
              <a:spcAft>
                <a:spcPts val="0"/>
              </a:spcAft>
              <a:buSzPts val="1400"/>
              <a:buChar char="●"/>
            </a:pPr>
            <a:r>
              <a:rPr lang="en"/>
              <a:t>The Impact Survey was ran in the first and second quarters of 2020 from April 30 - May 3, May 4 -10, and June 1 - 8. </a:t>
            </a:r>
            <a:endParaRPr/>
          </a:p>
          <a:p>
            <a:pPr indent="-317500" lvl="0" marL="457200" rtl="0" algn="l">
              <a:spcBef>
                <a:spcPts val="0"/>
              </a:spcBef>
              <a:spcAft>
                <a:spcPts val="0"/>
              </a:spcAft>
              <a:buSzPts val="1400"/>
              <a:buChar char="●"/>
            </a:pPr>
            <a:r>
              <a:rPr lang="en"/>
              <a:t>This survey aimed to </a:t>
            </a:r>
            <a:r>
              <a:rPr lang="en">
                <a:solidFill>
                  <a:schemeClr val="dk1"/>
                </a:solidFill>
                <a:highlight>
                  <a:srgbClr val="FFFFFF"/>
                </a:highlight>
              </a:rPr>
              <a:t>fill an information gap in the United States about the initial impact of Covid-19 on Americans and their responses to the pandemic through a 3 week survey spread several months.</a:t>
            </a:r>
            <a:endParaRPr>
              <a:solidFill>
                <a:schemeClr val="dk1"/>
              </a:solidFill>
              <a:highlight>
                <a:srgbClr val="FFFFFF"/>
              </a:highlight>
            </a:endParaRPr>
          </a:p>
          <a:p>
            <a:pPr indent="-317500" lvl="0" marL="457200" rtl="0" algn="l">
              <a:spcBef>
                <a:spcPts val="0"/>
              </a:spcBef>
              <a:spcAft>
                <a:spcPts val="0"/>
              </a:spcAft>
              <a:buClr>
                <a:schemeClr val="dk1"/>
              </a:buClr>
              <a:buSzPts val="1400"/>
              <a:buChar char="●"/>
            </a:pPr>
            <a:r>
              <a:rPr lang="en">
                <a:solidFill>
                  <a:schemeClr val="dk1"/>
                </a:solidFill>
                <a:highlight>
                  <a:srgbClr val="FFFFFF"/>
                </a:highlight>
              </a:rPr>
              <a:t>The Tracking Survey ran from May 21 - 29, June 22 - July 6, July 22 - August 10 2020. </a:t>
            </a:r>
            <a:endParaRPr>
              <a:solidFill>
                <a:schemeClr val="dk1"/>
              </a:solidFill>
              <a:highlight>
                <a:srgbClr val="FFFFFF"/>
              </a:highlight>
            </a:endParaRPr>
          </a:p>
          <a:p>
            <a:pPr indent="-317500" lvl="0" marL="457200" rtl="0" algn="l">
              <a:spcBef>
                <a:spcPts val="0"/>
              </a:spcBef>
              <a:spcAft>
                <a:spcPts val="0"/>
              </a:spcAft>
              <a:buClr>
                <a:schemeClr val="dk1"/>
              </a:buClr>
              <a:buSzPts val="1400"/>
              <a:buChar char="●"/>
            </a:pPr>
            <a:r>
              <a:rPr lang="en">
                <a:solidFill>
                  <a:schemeClr val="dk1"/>
                </a:solidFill>
                <a:highlight>
                  <a:srgbClr val="FFFFFF"/>
                </a:highlight>
              </a:rPr>
              <a:t>This survey was conducted as a</a:t>
            </a:r>
            <a:r>
              <a:rPr lang="en" sz="1200">
                <a:solidFill>
                  <a:srgbClr val="333333"/>
                </a:solidFill>
                <a:highlight>
                  <a:srgbClr val="FFFFFF"/>
                </a:highlight>
                <a:latin typeface="Roboto"/>
                <a:ea typeface="Roboto"/>
                <a:cs typeface="Roboto"/>
                <a:sym typeface="Roboto"/>
              </a:rPr>
              <a:t> </a:t>
            </a:r>
            <a:r>
              <a:rPr lang="en">
                <a:solidFill>
                  <a:srgbClr val="333333"/>
                </a:solidFill>
                <a:highlight>
                  <a:srgbClr val="FFFFFF"/>
                </a:highlight>
                <a:latin typeface="Roboto"/>
                <a:ea typeface="Roboto"/>
                <a:cs typeface="Roboto"/>
                <a:sym typeface="Roboto"/>
              </a:rPr>
              <a:t>nationally representative longitudinal study to understand Americans' beliefs, mental health, and outlook before, during and after the coronavirus outbreak.</a:t>
            </a:r>
            <a:endParaRPr>
              <a:solidFill>
                <a:srgbClr val="333333"/>
              </a:solidFill>
              <a:highlight>
                <a:srgbClr val="FFFFFF"/>
              </a:highlight>
              <a:latin typeface="Roboto"/>
              <a:ea typeface="Roboto"/>
              <a:cs typeface="Roboto"/>
              <a:sym typeface="Roboto"/>
            </a:endParaRPr>
          </a:p>
          <a:p>
            <a:pPr indent="-317500" lvl="0" marL="457200" rtl="0" algn="l">
              <a:spcBef>
                <a:spcPts val="0"/>
              </a:spcBef>
              <a:spcAft>
                <a:spcPts val="0"/>
              </a:spcAft>
              <a:buClr>
                <a:srgbClr val="333333"/>
              </a:buClr>
              <a:buSzPts val="1400"/>
              <a:buFont typeface="Roboto"/>
              <a:buChar char="●"/>
            </a:pPr>
            <a:r>
              <a:rPr lang="en">
                <a:solidFill>
                  <a:srgbClr val="333333"/>
                </a:solidFill>
                <a:highlight>
                  <a:srgbClr val="FFFFFF"/>
                </a:highlight>
                <a:latin typeface="Roboto"/>
                <a:ea typeface="Roboto"/>
                <a:cs typeface="Roboto"/>
                <a:sym typeface="Roboto"/>
              </a:rPr>
              <a:t>The difference between the two </a:t>
            </a:r>
            <a:r>
              <a:rPr lang="en">
                <a:solidFill>
                  <a:srgbClr val="333333"/>
                </a:solidFill>
                <a:highlight>
                  <a:srgbClr val="FFFFFF"/>
                </a:highlight>
                <a:latin typeface="Roboto"/>
                <a:ea typeface="Roboto"/>
                <a:cs typeface="Roboto"/>
                <a:sym typeface="Roboto"/>
              </a:rPr>
              <a:t>surveys are that the impact survey is conducted in the first half of 2020, while the tracking survey was conducted in the second half.</a:t>
            </a:r>
            <a:endParaRPr>
              <a:solidFill>
                <a:srgbClr val="333333"/>
              </a:solidFill>
              <a:highlight>
                <a:srgbClr val="FFFFFF"/>
              </a:highlight>
              <a:latin typeface="Roboto"/>
              <a:ea typeface="Roboto"/>
              <a:cs typeface="Roboto"/>
              <a:sym typeface="Roboto"/>
            </a:endParaRPr>
          </a:p>
          <a:p>
            <a:pPr indent="-317500" lvl="0" marL="457200" rtl="0" algn="l">
              <a:spcBef>
                <a:spcPts val="0"/>
              </a:spcBef>
              <a:spcAft>
                <a:spcPts val="0"/>
              </a:spcAft>
              <a:buClr>
                <a:srgbClr val="333333"/>
              </a:buClr>
              <a:buSzPts val="1400"/>
              <a:buFont typeface="Roboto"/>
              <a:buChar char="●"/>
            </a:pPr>
            <a:r>
              <a:rPr lang="en">
                <a:solidFill>
                  <a:srgbClr val="333333"/>
                </a:solidFill>
                <a:highlight>
                  <a:srgbClr val="FFFFFF"/>
                </a:highlight>
                <a:latin typeface="Roboto"/>
                <a:ea typeface="Roboto"/>
                <a:cs typeface="Roboto"/>
                <a:sym typeface="Roboto"/>
              </a:rPr>
              <a:t>Their aims were different in that the first survey just wanted Americans’ opinions on the initial impact of the pandemic while the second survey wanted to conduct a study comparing </a:t>
            </a:r>
            <a:r>
              <a:rPr lang="en">
                <a:solidFill>
                  <a:srgbClr val="333333"/>
                </a:solidFill>
                <a:highlight>
                  <a:srgbClr val="FFFFFF"/>
                </a:highlight>
              </a:rPr>
              <a:t>current beliefs to Americans’ responses to prior national tragedies. </a:t>
            </a:r>
            <a:endParaRPr>
              <a:solidFill>
                <a:srgbClr val="333333"/>
              </a:solidFill>
              <a:highlight>
                <a:srgbClr val="FFFFFF"/>
              </a:highlight>
            </a:endParaRPr>
          </a:p>
          <a:p>
            <a:pPr indent="0" lvl="0" marL="0" rtl="0" algn="l">
              <a:spcBef>
                <a:spcPts val="0"/>
              </a:spcBef>
              <a:spcAft>
                <a:spcPts val="0"/>
              </a:spcAft>
              <a:buNone/>
            </a:pPr>
            <a:r>
              <a:t/>
            </a:r>
            <a:endParaRPr>
              <a:solidFill>
                <a:srgbClr val="333333"/>
              </a:solidFill>
              <a:highlight>
                <a:srgbClr val="FFFFFF"/>
              </a:highlight>
            </a:endParaRPr>
          </a:p>
          <a:p>
            <a:pPr indent="0" lvl="0" marL="457200" rtl="0" algn="l">
              <a:spcBef>
                <a:spcPts val="0"/>
              </a:spcBef>
              <a:spcAft>
                <a:spcPts val="0"/>
              </a:spcAft>
              <a:buNone/>
            </a:pPr>
            <a:r>
              <a:t/>
            </a:r>
            <a:endParaRPr>
              <a:solidFill>
                <a:schemeClr val="dk1"/>
              </a:solidFill>
              <a:highlight>
                <a:srgbClr val="FFFFFF"/>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p15"/>
          <p:cNvPicPr preferRelativeResize="0"/>
          <p:nvPr/>
        </p:nvPicPr>
        <p:blipFill>
          <a:blip r:embed="rId3">
            <a:alphaModFix/>
          </a:blip>
          <a:stretch>
            <a:fillRect/>
          </a:stretch>
        </p:blipFill>
        <p:spPr>
          <a:xfrm>
            <a:off x="0" y="-457318"/>
            <a:ext cx="9144000" cy="6857993"/>
          </a:xfrm>
          <a:prstGeom prst="rect">
            <a:avLst/>
          </a:prstGeom>
          <a:noFill/>
          <a:ln>
            <a:noFill/>
          </a:ln>
        </p:spPr>
      </p:pic>
      <p:sp>
        <p:nvSpPr>
          <p:cNvPr id="71" name="Google Shape;71;p15"/>
          <p:cNvSpPr/>
          <p:nvPr/>
        </p:nvSpPr>
        <p:spPr>
          <a:xfrm>
            <a:off x="605275" y="343775"/>
            <a:ext cx="7944300" cy="4602300"/>
          </a:xfrm>
          <a:prstGeom prst="roundRect">
            <a:avLst>
              <a:gd fmla="val 16667" name="adj"/>
            </a:avLst>
          </a:prstGeom>
          <a:solidFill>
            <a:srgbClr val="FDF0F0">
              <a:alpha val="7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txBox="1"/>
          <p:nvPr/>
        </p:nvSpPr>
        <p:spPr>
          <a:xfrm>
            <a:off x="2424621" y="400575"/>
            <a:ext cx="495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latin typeface="Lora"/>
                <a:ea typeface="Lora"/>
                <a:cs typeface="Lora"/>
                <a:sym typeface="Lora"/>
              </a:rPr>
              <a:t>Background — In Tracking Surveys</a:t>
            </a:r>
            <a:endParaRPr b="1" sz="1800">
              <a:latin typeface="Lora"/>
              <a:ea typeface="Lora"/>
              <a:cs typeface="Lora"/>
              <a:sym typeface="Lora"/>
            </a:endParaRPr>
          </a:p>
        </p:txBody>
      </p:sp>
      <p:grpSp>
        <p:nvGrpSpPr>
          <p:cNvPr id="73" name="Google Shape;73;p15"/>
          <p:cNvGrpSpPr/>
          <p:nvPr/>
        </p:nvGrpSpPr>
        <p:grpSpPr>
          <a:xfrm>
            <a:off x="865563" y="852500"/>
            <a:ext cx="2047500" cy="3889750"/>
            <a:chOff x="1255425" y="990425"/>
            <a:chExt cx="2047500" cy="3889750"/>
          </a:xfrm>
        </p:grpSpPr>
        <p:pic>
          <p:nvPicPr>
            <p:cNvPr id="74" name="Google Shape;74;p15"/>
            <p:cNvPicPr preferRelativeResize="0"/>
            <p:nvPr/>
          </p:nvPicPr>
          <p:blipFill rotWithShape="1">
            <a:blip r:embed="rId4">
              <a:alphaModFix/>
            </a:blip>
            <a:srcRect b="0" l="12628" r="12245" t="685"/>
            <a:stretch/>
          </p:blipFill>
          <p:spPr>
            <a:xfrm>
              <a:off x="1379787" y="990425"/>
              <a:ext cx="1798745" cy="1581325"/>
            </a:xfrm>
            <a:prstGeom prst="rect">
              <a:avLst/>
            </a:prstGeom>
            <a:noFill/>
            <a:ln>
              <a:noFill/>
            </a:ln>
          </p:spPr>
        </p:pic>
        <p:sp>
          <p:nvSpPr>
            <p:cNvPr id="75" name="Google Shape;75;p15"/>
            <p:cNvSpPr txBox="1"/>
            <p:nvPr/>
          </p:nvSpPr>
          <p:spPr>
            <a:xfrm>
              <a:off x="1255425" y="2756175"/>
              <a:ext cx="20475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People </a:t>
              </a:r>
              <a:r>
                <a:rPr lang="en"/>
                <a:t>exposed more to the coronavirus either personally or geographically in a highly-impacted area is linked with greater feelings of loneliness and other negative emotional states.</a:t>
              </a:r>
              <a:endParaRPr/>
            </a:p>
          </p:txBody>
        </p:sp>
      </p:grpSp>
      <p:grpSp>
        <p:nvGrpSpPr>
          <p:cNvPr id="76" name="Google Shape;76;p15"/>
          <p:cNvGrpSpPr/>
          <p:nvPr/>
        </p:nvGrpSpPr>
        <p:grpSpPr>
          <a:xfrm>
            <a:off x="3234838" y="852500"/>
            <a:ext cx="2796900" cy="4093550"/>
            <a:chOff x="3302925" y="990425"/>
            <a:chExt cx="2796900" cy="4093550"/>
          </a:xfrm>
        </p:grpSpPr>
        <p:pic>
          <p:nvPicPr>
            <p:cNvPr id="77" name="Google Shape;77;p15"/>
            <p:cNvPicPr preferRelativeResize="0"/>
            <p:nvPr/>
          </p:nvPicPr>
          <p:blipFill>
            <a:blip r:embed="rId5">
              <a:alphaModFix/>
            </a:blip>
            <a:stretch>
              <a:fillRect/>
            </a:stretch>
          </p:blipFill>
          <p:spPr>
            <a:xfrm>
              <a:off x="3439564" y="990425"/>
              <a:ext cx="2372577" cy="1581325"/>
            </a:xfrm>
            <a:prstGeom prst="rect">
              <a:avLst/>
            </a:prstGeom>
            <a:noFill/>
            <a:ln>
              <a:noFill/>
            </a:ln>
          </p:spPr>
        </p:pic>
        <p:sp>
          <p:nvSpPr>
            <p:cNvPr id="78" name="Google Shape;78;p15"/>
            <p:cNvSpPr txBox="1"/>
            <p:nvPr/>
          </p:nvSpPr>
          <p:spPr>
            <a:xfrm>
              <a:off x="3302925" y="2744275"/>
              <a:ext cx="27969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Black, Hispanic, and younger Americans have been particularly likely to face such economic hardships.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responses to Floyd’s killing and the economic hardships related to the pandemic are having independent effects on health and well-being.</a:t>
              </a:r>
              <a:endParaRPr/>
            </a:p>
          </p:txBody>
        </p:sp>
      </p:grpSp>
      <p:grpSp>
        <p:nvGrpSpPr>
          <p:cNvPr id="79" name="Google Shape;79;p15"/>
          <p:cNvGrpSpPr/>
          <p:nvPr/>
        </p:nvGrpSpPr>
        <p:grpSpPr>
          <a:xfrm>
            <a:off x="6106488" y="852499"/>
            <a:ext cx="2182800" cy="4093551"/>
            <a:chOff x="6009950" y="990424"/>
            <a:chExt cx="2182800" cy="4093551"/>
          </a:xfrm>
        </p:grpSpPr>
        <p:pic>
          <p:nvPicPr>
            <p:cNvPr id="80" name="Google Shape;80;p15"/>
            <p:cNvPicPr preferRelativeResize="0"/>
            <p:nvPr/>
          </p:nvPicPr>
          <p:blipFill>
            <a:blip r:embed="rId6">
              <a:alphaModFix/>
            </a:blip>
            <a:stretch>
              <a:fillRect/>
            </a:stretch>
          </p:blipFill>
          <p:spPr>
            <a:xfrm>
              <a:off x="6182888" y="990424"/>
              <a:ext cx="1581325" cy="1581325"/>
            </a:xfrm>
            <a:prstGeom prst="rect">
              <a:avLst/>
            </a:prstGeom>
            <a:noFill/>
            <a:ln>
              <a:noFill/>
            </a:ln>
          </p:spPr>
        </p:pic>
        <p:sp>
          <p:nvSpPr>
            <p:cNvPr id="81" name="Google Shape;81;p15"/>
            <p:cNvSpPr txBox="1"/>
            <p:nvPr/>
          </p:nvSpPr>
          <p:spPr>
            <a:xfrm>
              <a:off x="6009950" y="2744275"/>
              <a:ext cx="21828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Younger adults, women, those with lower income or lower educational attainment, and those who often watch, read, or talk about the coronavirus report higher rates of various symptoms, compared to other groups.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gtEl>
                                        <p:attrNameLst>
                                          <p:attrName>style.visibility</p:attrName>
                                        </p:attrNameLst>
                                      </p:cBhvr>
                                      <p:to>
                                        <p:strVal val="visible"/>
                                      </p:to>
                                    </p:set>
                                    <p:animEffect filter="fade" transition="in">
                                      <p:cBhvr>
                                        <p:cTn dur="1000"/>
                                        <p:tgtEl>
                                          <p:spTgt spid="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1000"/>
                                        <p:tgtEl>
                                          <p:spTgt spid="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
                                        </p:tgtEl>
                                        <p:attrNameLst>
                                          <p:attrName>style.visibility</p:attrName>
                                        </p:attrNameLst>
                                      </p:cBhvr>
                                      <p:to>
                                        <p:strVal val="visible"/>
                                      </p:to>
                                    </p:set>
                                    <p:animEffect filter="fade" transition="in">
                                      <p:cBhvr>
                                        <p:cTn dur="1000"/>
                                        <p:tgtEl>
                                          <p:spTgt spid="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6"/>
          <p:cNvPicPr preferRelativeResize="0"/>
          <p:nvPr/>
        </p:nvPicPr>
        <p:blipFill>
          <a:blip r:embed="rId3">
            <a:alphaModFix/>
          </a:blip>
          <a:stretch>
            <a:fillRect/>
          </a:stretch>
        </p:blipFill>
        <p:spPr>
          <a:xfrm>
            <a:off x="0" y="-457318"/>
            <a:ext cx="9144000" cy="6857993"/>
          </a:xfrm>
          <a:prstGeom prst="rect">
            <a:avLst/>
          </a:prstGeom>
          <a:noFill/>
          <a:ln>
            <a:noFill/>
          </a:ln>
        </p:spPr>
      </p:pic>
      <p:sp>
        <p:nvSpPr>
          <p:cNvPr id="87" name="Google Shape;87;p16"/>
          <p:cNvSpPr/>
          <p:nvPr/>
        </p:nvSpPr>
        <p:spPr>
          <a:xfrm>
            <a:off x="605275" y="343775"/>
            <a:ext cx="7944300" cy="4602300"/>
          </a:xfrm>
          <a:prstGeom prst="roundRect">
            <a:avLst>
              <a:gd fmla="val 16667" name="adj"/>
            </a:avLst>
          </a:prstGeom>
          <a:solidFill>
            <a:srgbClr val="FDF0F0">
              <a:alpha val="7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
          <p:cNvSpPr txBox="1"/>
          <p:nvPr/>
        </p:nvSpPr>
        <p:spPr>
          <a:xfrm>
            <a:off x="2424621" y="400575"/>
            <a:ext cx="495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latin typeface="Lora"/>
                <a:ea typeface="Lora"/>
                <a:cs typeface="Lora"/>
                <a:sym typeface="Lora"/>
              </a:rPr>
              <a:t>Background — In Impact Surveys</a:t>
            </a:r>
            <a:endParaRPr b="1" sz="1800">
              <a:latin typeface="Lora"/>
              <a:ea typeface="Lora"/>
              <a:cs typeface="Lora"/>
              <a:sym typeface="Lora"/>
            </a:endParaRPr>
          </a:p>
        </p:txBody>
      </p:sp>
      <p:pic>
        <p:nvPicPr>
          <p:cNvPr id="89" name="Google Shape;89;p16"/>
          <p:cNvPicPr preferRelativeResize="0"/>
          <p:nvPr/>
        </p:nvPicPr>
        <p:blipFill>
          <a:blip r:embed="rId4">
            <a:alphaModFix/>
          </a:blip>
          <a:stretch>
            <a:fillRect/>
          </a:stretch>
        </p:blipFill>
        <p:spPr>
          <a:xfrm>
            <a:off x="744154" y="1662050"/>
            <a:ext cx="4106225" cy="2434901"/>
          </a:xfrm>
          <a:prstGeom prst="rect">
            <a:avLst/>
          </a:prstGeom>
          <a:noFill/>
          <a:ln>
            <a:noFill/>
          </a:ln>
        </p:spPr>
      </p:pic>
      <p:pic>
        <p:nvPicPr>
          <p:cNvPr id="90" name="Google Shape;90;p16"/>
          <p:cNvPicPr preferRelativeResize="0"/>
          <p:nvPr/>
        </p:nvPicPr>
        <p:blipFill>
          <a:blip r:embed="rId5">
            <a:alphaModFix/>
          </a:blip>
          <a:stretch>
            <a:fillRect/>
          </a:stretch>
        </p:blipFill>
        <p:spPr>
          <a:xfrm>
            <a:off x="5054327" y="1325213"/>
            <a:ext cx="3356374" cy="31085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idx="1" type="subTitle"/>
          </p:nvPr>
        </p:nvSpPr>
        <p:spPr>
          <a:xfrm>
            <a:off x="3242550" y="1529425"/>
            <a:ext cx="5469600" cy="2740800"/>
          </a:xfrm>
          <a:prstGeom prst="rect">
            <a:avLst/>
          </a:prstGeom>
        </p:spPr>
        <p:txBody>
          <a:bodyPr anchorCtr="0" anchor="t" bIns="91425" lIns="91425" spcFirstLastPara="1" rIns="91425" wrap="square" tIns="91425">
            <a:normAutofit fontScale="55000" lnSpcReduction="10000"/>
          </a:bodyPr>
          <a:lstStyle/>
          <a:p>
            <a:pPr indent="0" lvl="0" marL="0" rtl="0" algn="l">
              <a:spcBef>
                <a:spcPts val="0"/>
              </a:spcBef>
              <a:spcAft>
                <a:spcPts val="0"/>
              </a:spcAft>
              <a:buNone/>
            </a:pPr>
            <a:r>
              <a:rPr lang="en">
                <a:solidFill>
                  <a:srgbClr val="2C2C2C"/>
                </a:solidFill>
              </a:rPr>
              <a:t>Research Questions</a:t>
            </a:r>
            <a:endParaRPr>
              <a:solidFill>
                <a:srgbClr val="2C2C2C"/>
              </a:solidFill>
            </a:endParaRPr>
          </a:p>
          <a:p>
            <a:pPr indent="0" lvl="0" marL="0" rtl="0" algn="l">
              <a:spcBef>
                <a:spcPts val="0"/>
              </a:spcBef>
              <a:spcAft>
                <a:spcPts val="0"/>
              </a:spcAft>
              <a:buNone/>
            </a:pPr>
            <a:r>
              <a:t/>
            </a:r>
            <a:endParaRPr>
              <a:solidFill>
                <a:srgbClr val="2C2C2C"/>
              </a:solidFill>
            </a:endParaRPr>
          </a:p>
          <a:p>
            <a:pPr indent="-326390" lvl="0" marL="457200" rtl="0" algn="l">
              <a:spcBef>
                <a:spcPts val="0"/>
              </a:spcBef>
              <a:spcAft>
                <a:spcPts val="0"/>
              </a:spcAft>
              <a:buClr>
                <a:srgbClr val="2C2C2C"/>
              </a:buClr>
              <a:buSzPct val="100000"/>
              <a:buAutoNum type="arabicPeriod"/>
            </a:pPr>
            <a:r>
              <a:rPr lang="en">
                <a:solidFill>
                  <a:srgbClr val="2C2C2C"/>
                </a:solidFill>
              </a:rPr>
              <a:t>Investigating the impact of the first year of Covid-19 on job employment.</a:t>
            </a:r>
            <a:endParaRPr>
              <a:solidFill>
                <a:srgbClr val="2C2C2C"/>
              </a:solidFill>
            </a:endParaRPr>
          </a:p>
          <a:p>
            <a:pPr indent="0" lvl="0" marL="914400" rtl="0" algn="l">
              <a:spcBef>
                <a:spcPts val="0"/>
              </a:spcBef>
              <a:spcAft>
                <a:spcPts val="0"/>
              </a:spcAft>
              <a:buNone/>
            </a:pPr>
            <a:r>
              <a:t/>
            </a:r>
            <a:endParaRPr>
              <a:solidFill>
                <a:srgbClr val="2C2C2C"/>
              </a:solidFill>
            </a:endParaRPr>
          </a:p>
          <a:p>
            <a:pPr indent="-326390" lvl="0" marL="457200" rtl="0" algn="l">
              <a:spcBef>
                <a:spcPts val="0"/>
              </a:spcBef>
              <a:spcAft>
                <a:spcPts val="0"/>
              </a:spcAft>
              <a:buClr>
                <a:srgbClr val="2C2C2C"/>
              </a:buClr>
              <a:buSzPct val="100000"/>
              <a:buAutoNum type="arabicPeriod"/>
            </a:pPr>
            <a:r>
              <a:rPr lang="en">
                <a:solidFill>
                  <a:srgbClr val="2C2C2C"/>
                </a:solidFill>
              </a:rPr>
              <a:t>How does mask-wearing differ among certain demographics and regions across the U.S?</a:t>
            </a:r>
            <a:endParaRPr>
              <a:solidFill>
                <a:srgbClr val="2C2C2C"/>
              </a:solidFill>
            </a:endParaRPr>
          </a:p>
          <a:p>
            <a:pPr indent="0" lvl="0" marL="914400" rtl="0" algn="l">
              <a:spcBef>
                <a:spcPts val="0"/>
              </a:spcBef>
              <a:spcAft>
                <a:spcPts val="0"/>
              </a:spcAft>
              <a:buNone/>
            </a:pPr>
            <a:r>
              <a:t/>
            </a:r>
            <a:endParaRPr>
              <a:solidFill>
                <a:srgbClr val="2C2C2C"/>
              </a:solidFill>
            </a:endParaRPr>
          </a:p>
          <a:p>
            <a:pPr indent="-326390" lvl="0" marL="457200" rtl="0" algn="l">
              <a:spcBef>
                <a:spcPts val="0"/>
              </a:spcBef>
              <a:spcAft>
                <a:spcPts val="0"/>
              </a:spcAft>
              <a:buClr>
                <a:srgbClr val="2C2C2C"/>
              </a:buClr>
              <a:buSzPct val="100000"/>
              <a:buAutoNum type="arabicPeriod"/>
            </a:pPr>
            <a:r>
              <a:rPr lang="en">
                <a:solidFill>
                  <a:srgbClr val="2C2C2C"/>
                </a:solidFill>
              </a:rPr>
              <a:t>Looking at the differences of depression time length among Americans in different regions. </a:t>
            </a:r>
            <a:br>
              <a:rPr lang="en">
                <a:solidFill>
                  <a:srgbClr val="2C2C2C"/>
                </a:solidFill>
              </a:rPr>
            </a:br>
            <a:endParaRPr>
              <a:solidFill>
                <a:srgbClr val="2C2C2C"/>
              </a:solidFill>
            </a:endParaRPr>
          </a:p>
          <a:p>
            <a:pPr indent="0" lvl="0" marL="0" rtl="0" algn="l">
              <a:spcBef>
                <a:spcPts val="0"/>
              </a:spcBef>
              <a:spcAft>
                <a:spcPts val="0"/>
              </a:spcAft>
              <a:buNone/>
            </a:pPr>
            <a:r>
              <a:t/>
            </a:r>
            <a:endParaRPr>
              <a:solidFill>
                <a:srgbClr val="2C2C2C"/>
              </a:solidFill>
            </a:endParaRPr>
          </a:p>
        </p:txBody>
      </p:sp>
      <p:pic>
        <p:nvPicPr>
          <p:cNvPr id="96" name="Google Shape;96;p17"/>
          <p:cNvPicPr preferRelativeResize="0"/>
          <p:nvPr/>
        </p:nvPicPr>
        <p:blipFill>
          <a:blip r:embed="rId3">
            <a:alphaModFix/>
          </a:blip>
          <a:stretch>
            <a:fillRect/>
          </a:stretch>
        </p:blipFill>
        <p:spPr>
          <a:xfrm>
            <a:off x="-3912700" y="-26500"/>
            <a:ext cx="6928634" cy="5196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grpSp>
        <p:nvGrpSpPr>
          <p:cNvPr id="101" name="Google Shape;101;p18"/>
          <p:cNvGrpSpPr/>
          <p:nvPr/>
        </p:nvGrpSpPr>
        <p:grpSpPr>
          <a:xfrm>
            <a:off x="0" y="-457318"/>
            <a:ext cx="9144000" cy="6857993"/>
            <a:chOff x="0" y="-457318"/>
            <a:chExt cx="9144000" cy="6857993"/>
          </a:xfrm>
        </p:grpSpPr>
        <p:pic>
          <p:nvPicPr>
            <p:cNvPr id="102" name="Google Shape;102;p18"/>
            <p:cNvPicPr preferRelativeResize="0"/>
            <p:nvPr/>
          </p:nvPicPr>
          <p:blipFill>
            <a:blip r:embed="rId3">
              <a:alphaModFix/>
            </a:blip>
            <a:stretch>
              <a:fillRect/>
            </a:stretch>
          </p:blipFill>
          <p:spPr>
            <a:xfrm>
              <a:off x="0" y="-457318"/>
              <a:ext cx="9144000" cy="6857993"/>
            </a:xfrm>
            <a:prstGeom prst="rect">
              <a:avLst/>
            </a:prstGeom>
            <a:noFill/>
            <a:ln>
              <a:noFill/>
            </a:ln>
          </p:spPr>
        </p:pic>
        <p:sp>
          <p:nvSpPr>
            <p:cNvPr id="103" name="Google Shape;103;p18"/>
            <p:cNvSpPr/>
            <p:nvPr/>
          </p:nvSpPr>
          <p:spPr>
            <a:xfrm>
              <a:off x="605275" y="343775"/>
              <a:ext cx="7944300" cy="4602300"/>
            </a:xfrm>
            <a:prstGeom prst="roundRect">
              <a:avLst>
                <a:gd fmla="val 16667" name="adj"/>
              </a:avLst>
            </a:prstGeom>
            <a:solidFill>
              <a:srgbClr val="FDF0F0">
                <a:alpha val="7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18"/>
          <p:cNvSpPr txBox="1"/>
          <p:nvPr>
            <p:ph type="title"/>
          </p:nvPr>
        </p:nvSpPr>
        <p:spPr>
          <a:xfrm>
            <a:off x="875975" y="597250"/>
            <a:ext cx="8787300" cy="75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750">
                <a:latin typeface="Lora"/>
                <a:ea typeface="Lora"/>
                <a:cs typeface="Lora"/>
                <a:sym typeface="Lora"/>
              </a:rPr>
              <a:t>Likeliness of Job Employment in 3 Weeks Time By Racial Background</a:t>
            </a:r>
            <a:endParaRPr sz="1750">
              <a:latin typeface="Lora"/>
              <a:ea typeface="Lora"/>
              <a:cs typeface="Lora"/>
              <a:sym typeface="Lora"/>
            </a:endParaRPr>
          </a:p>
        </p:txBody>
      </p:sp>
      <p:pic>
        <p:nvPicPr>
          <p:cNvPr id="105" name="Google Shape;105;p18"/>
          <p:cNvPicPr preferRelativeResize="0"/>
          <p:nvPr/>
        </p:nvPicPr>
        <p:blipFill>
          <a:blip r:embed="rId4">
            <a:alphaModFix/>
          </a:blip>
          <a:stretch>
            <a:fillRect/>
          </a:stretch>
        </p:blipFill>
        <p:spPr>
          <a:xfrm>
            <a:off x="1582175" y="1057213"/>
            <a:ext cx="5979651" cy="36765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grpSp>
        <p:nvGrpSpPr>
          <p:cNvPr id="110" name="Google Shape;110;p19"/>
          <p:cNvGrpSpPr/>
          <p:nvPr/>
        </p:nvGrpSpPr>
        <p:grpSpPr>
          <a:xfrm>
            <a:off x="0" y="-457318"/>
            <a:ext cx="9144000" cy="6857993"/>
            <a:chOff x="0" y="-457318"/>
            <a:chExt cx="9144000" cy="6857993"/>
          </a:xfrm>
        </p:grpSpPr>
        <p:pic>
          <p:nvPicPr>
            <p:cNvPr id="111" name="Google Shape;111;p19"/>
            <p:cNvPicPr preferRelativeResize="0"/>
            <p:nvPr/>
          </p:nvPicPr>
          <p:blipFill>
            <a:blip r:embed="rId3">
              <a:alphaModFix/>
            </a:blip>
            <a:stretch>
              <a:fillRect/>
            </a:stretch>
          </p:blipFill>
          <p:spPr>
            <a:xfrm>
              <a:off x="0" y="-457318"/>
              <a:ext cx="9144000" cy="6857993"/>
            </a:xfrm>
            <a:prstGeom prst="rect">
              <a:avLst/>
            </a:prstGeom>
            <a:noFill/>
            <a:ln>
              <a:noFill/>
            </a:ln>
          </p:spPr>
        </p:pic>
        <p:sp>
          <p:nvSpPr>
            <p:cNvPr id="112" name="Google Shape;112;p19"/>
            <p:cNvSpPr/>
            <p:nvPr/>
          </p:nvSpPr>
          <p:spPr>
            <a:xfrm>
              <a:off x="605275" y="343775"/>
              <a:ext cx="7944300" cy="4602300"/>
            </a:xfrm>
            <a:prstGeom prst="roundRect">
              <a:avLst>
                <a:gd fmla="val 16667" name="adj"/>
              </a:avLst>
            </a:prstGeom>
            <a:solidFill>
              <a:srgbClr val="FDF0F0">
                <a:alpha val="7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9"/>
          <p:cNvSpPr txBox="1"/>
          <p:nvPr>
            <p:ph type="title"/>
          </p:nvPr>
        </p:nvSpPr>
        <p:spPr>
          <a:xfrm>
            <a:off x="1043125" y="597250"/>
            <a:ext cx="8787300" cy="75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750">
                <a:latin typeface="Lora"/>
                <a:ea typeface="Lora"/>
                <a:cs typeface="Lora"/>
                <a:sym typeface="Lora"/>
              </a:rPr>
              <a:t>Likeliness of Job Employment in 3 Weeks Time By Racial Background</a:t>
            </a:r>
            <a:endParaRPr sz="1750">
              <a:latin typeface="Lora"/>
              <a:ea typeface="Lora"/>
              <a:cs typeface="Lora"/>
              <a:sym typeface="Lora"/>
            </a:endParaRPr>
          </a:p>
        </p:txBody>
      </p:sp>
      <p:pic>
        <p:nvPicPr>
          <p:cNvPr id="114" name="Google Shape;114;p19"/>
          <p:cNvPicPr preferRelativeResize="0"/>
          <p:nvPr/>
        </p:nvPicPr>
        <p:blipFill>
          <a:blip r:embed="rId4">
            <a:alphaModFix/>
          </a:blip>
          <a:stretch>
            <a:fillRect/>
          </a:stretch>
        </p:blipFill>
        <p:spPr>
          <a:xfrm>
            <a:off x="1988225" y="1150924"/>
            <a:ext cx="4877793" cy="3641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grpSp>
        <p:nvGrpSpPr>
          <p:cNvPr id="119" name="Google Shape;119;p20"/>
          <p:cNvGrpSpPr/>
          <p:nvPr/>
        </p:nvGrpSpPr>
        <p:grpSpPr>
          <a:xfrm>
            <a:off x="0" y="-457318"/>
            <a:ext cx="9144000" cy="6857993"/>
            <a:chOff x="0" y="-457318"/>
            <a:chExt cx="9144000" cy="6857993"/>
          </a:xfrm>
        </p:grpSpPr>
        <p:pic>
          <p:nvPicPr>
            <p:cNvPr id="120" name="Google Shape;120;p20"/>
            <p:cNvPicPr preferRelativeResize="0"/>
            <p:nvPr/>
          </p:nvPicPr>
          <p:blipFill>
            <a:blip r:embed="rId3">
              <a:alphaModFix/>
            </a:blip>
            <a:stretch>
              <a:fillRect/>
            </a:stretch>
          </p:blipFill>
          <p:spPr>
            <a:xfrm>
              <a:off x="0" y="-457318"/>
              <a:ext cx="9144000" cy="6857993"/>
            </a:xfrm>
            <a:prstGeom prst="rect">
              <a:avLst/>
            </a:prstGeom>
            <a:noFill/>
            <a:ln>
              <a:noFill/>
            </a:ln>
          </p:spPr>
        </p:pic>
        <p:sp>
          <p:nvSpPr>
            <p:cNvPr id="121" name="Google Shape;121;p20"/>
            <p:cNvSpPr/>
            <p:nvPr/>
          </p:nvSpPr>
          <p:spPr>
            <a:xfrm>
              <a:off x="605275" y="343775"/>
              <a:ext cx="7944300" cy="4602300"/>
            </a:xfrm>
            <a:prstGeom prst="roundRect">
              <a:avLst>
                <a:gd fmla="val 16667" name="adj"/>
              </a:avLst>
            </a:prstGeom>
            <a:solidFill>
              <a:srgbClr val="FDF0F0">
                <a:alpha val="7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0"/>
          <p:cNvSpPr txBox="1"/>
          <p:nvPr>
            <p:ph type="title"/>
          </p:nvPr>
        </p:nvSpPr>
        <p:spPr>
          <a:xfrm>
            <a:off x="1043125" y="597250"/>
            <a:ext cx="8787300" cy="75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750">
                <a:latin typeface="Lora"/>
                <a:ea typeface="Lora"/>
                <a:cs typeface="Lora"/>
                <a:sym typeface="Lora"/>
              </a:rPr>
              <a:t>Likeliness of Job Employment in 3 Months Time By Racial Background</a:t>
            </a:r>
            <a:endParaRPr sz="1750">
              <a:latin typeface="Lora"/>
              <a:ea typeface="Lora"/>
              <a:cs typeface="Lora"/>
              <a:sym typeface="Lora"/>
            </a:endParaRPr>
          </a:p>
        </p:txBody>
      </p:sp>
      <p:pic>
        <p:nvPicPr>
          <p:cNvPr id="123" name="Google Shape;123;p20"/>
          <p:cNvPicPr preferRelativeResize="0"/>
          <p:nvPr/>
        </p:nvPicPr>
        <p:blipFill>
          <a:blip r:embed="rId4">
            <a:alphaModFix/>
          </a:blip>
          <a:stretch>
            <a:fillRect/>
          </a:stretch>
        </p:blipFill>
        <p:spPr>
          <a:xfrm>
            <a:off x="1510625" y="1161488"/>
            <a:ext cx="6122749" cy="36203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grpSp>
        <p:nvGrpSpPr>
          <p:cNvPr id="128" name="Google Shape;128;p21"/>
          <p:cNvGrpSpPr/>
          <p:nvPr/>
        </p:nvGrpSpPr>
        <p:grpSpPr>
          <a:xfrm>
            <a:off x="0" y="-457318"/>
            <a:ext cx="9144000" cy="6857993"/>
            <a:chOff x="0" y="-457318"/>
            <a:chExt cx="9144000" cy="6857993"/>
          </a:xfrm>
        </p:grpSpPr>
        <p:pic>
          <p:nvPicPr>
            <p:cNvPr id="129" name="Google Shape;129;p21"/>
            <p:cNvPicPr preferRelativeResize="0"/>
            <p:nvPr/>
          </p:nvPicPr>
          <p:blipFill>
            <a:blip r:embed="rId3">
              <a:alphaModFix/>
            </a:blip>
            <a:stretch>
              <a:fillRect/>
            </a:stretch>
          </p:blipFill>
          <p:spPr>
            <a:xfrm>
              <a:off x="0" y="-457318"/>
              <a:ext cx="9144000" cy="6857993"/>
            </a:xfrm>
            <a:prstGeom prst="rect">
              <a:avLst/>
            </a:prstGeom>
            <a:noFill/>
            <a:ln>
              <a:noFill/>
            </a:ln>
          </p:spPr>
        </p:pic>
        <p:sp>
          <p:nvSpPr>
            <p:cNvPr id="130" name="Google Shape;130;p21"/>
            <p:cNvSpPr/>
            <p:nvPr/>
          </p:nvSpPr>
          <p:spPr>
            <a:xfrm>
              <a:off x="605275" y="343775"/>
              <a:ext cx="7944300" cy="4602300"/>
            </a:xfrm>
            <a:prstGeom prst="roundRect">
              <a:avLst>
                <a:gd fmla="val 16667" name="adj"/>
              </a:avLst>
            </a:prstGeom>
            <a:solidFill>
              <a:srgbClr val="FDF0F0">
                <a:alpha val="7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21"/>
          <p:cNvSpPr txBox="1"/>
          <p:nvPr>
            <p:ph type="title"/>
          </p:nvPr>
        </p:nvSpPr>
        <p:spPr>
          <a:xfrm>
            <a:off x="1194675" y="574225"/>
            <a:ext cx="7030500" cy="67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latin typeface="Times New Roman"/>
                <a:ea typeface="Times New Roman"/>
                <a:cs typeface="Times New Roman"/>
                <a:sym typeface="Times New Roman"/>
              </a:rPr>
              <a:t>Mask Wearing Usage Increases with Education Level</a:t>
            </a:r>
            <a:endParaRPr sz="2400">
              <a:latin typeface="Times New Roman"/>
              <a:ea typeface="Times New Roman"/>
              <a:cs typeface="Times New Roman"/>
              <a:sym typeface="Times New Roman"/>
            </a:endParaRPr>
          </a:p>
        </p:txBody>
      </p:sp>
      <p:pic>
        <p:nvPicPr>
          <p:cNvPr id="132" name="Google Shape;132;p21"/>
          <p:cNvPicPr preferRelativeResize="0"/>
          <p:nvPr/>
        </p:nvPicPr>
        <p:blipFill>
          <a:blip r:embed="rId4">
            <a:alphaModFix/>
          </a:blip>
          <a:stretch>
            <a:fillRect/>
          </a:stretch>
        </p:blipFill>
        <p:spPr>
          <a:xfrm>
            <a:off x="1733775" y="1191363"/>
            <a:ext cx="5871631" cy="35606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grpSp>
        <p:nvGrpSpPr>
          <p:cNvPr id="137" name="Google Shape;137;p22"/>
          <p:cNvGrpSpPr/>
          <p:nvPr/>
        </p:nvGrpSpPr>
        <p:grpSpPr>
          <a:xfrm>
            <a:off x="0" y="-457318"/>
            <a:ext cx="9144000" cy="6857993"/>
            <a:chOff x="0" y="-457318"/>
            <a:chExt cx="9144000" cy="6857993"/>
          </a:xfrm>
        </p:grpSpPr>
        <p:pic>
          <p:nvPicPr>
            <p:cNvPr id="138" name="Google Shape;138;p22"/>
            <p:cNvPicPr preferRelativeResize="0"/>
            <p:nvPr/>
          </p:nvPicPr>
          <p:blipFill>
            <a:blip r:embed="rId3">
              <a:alphaModFix/>
            </a:blip>
            <a:stretch>
              <a:fillRect/>
            </a:stretch>
          </p:blipFill>
          <p:spPr>
            <a:xfrm>
              <a:off x="0" y="-457318"/>
              <a:ext cx="9144000" cy="6857993"/>
            </a:xfrm>
            <a:prstGeom prst="rect">
              <a:avLst/>
            </a:prstGeom>
            <a:noFill/>
            <a:ln>
              <a:noFill/>
            </a:ln>
          </p:spPr>
        </p:pic>
        <p:sp>
          <p:nvSpPr>
            <p:cNvPr id="139" name="Google Shape;139;p22"/>
            <p:cNvSpPr/>
            <p:nvPr/>
          </p:nvSpPr>
          <p:spPr>
            <a:xfrm>
              <a:off x="605275" y="343775"/>
              <a:ext cx="7944300" cy="4602300"/>
            </a:xfrm>
            <a:prstGeom prst="roundRect">
              <a:avLst>
                <a:gd fmla="val 16667" name="adj"/>
              </a:avLst>
            </a:prstGeom>
            <a:solidFill>
              <a:srgbClr val="FDF0F0">
                <a:alpha val="7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 name="Google Shape;140;p22"/>
          <p:cNvSpPr txBox="1"/>
          <p:nvPr>
            <p:ph type="title"/>
          </p:nvPr>
        </p:nvSpPr>
        <p:spPr>
          <a:xfrm>
            <a:off x="353925" y="632725"/>
            <a:ext cx="8520600" cy="572700"/>
          </a:xfrm>
          <a:prstGeom prst="rect">
            <a:avLst/>
          </a:prstGeom>
        </p:spPr>
        <p:txBody>
          <a:bodyPr anchorCtr="0" anchor="t" bIns="91425" lIns="91425" spcFirstLastPara="1" rIns="91425" wrap="square" tIns="91425">
            <a:normAutofit fontScale="90000"/>
          </a:bodyPr>
          <a:lstStyle/>
          <a:p>
            <a:pPr indent="0" lvl="0" marL="0" rtl="0" algn="ctr">
              <a:lnSpc>
                <a:spcPct val="127500"/>
              </a:lnSpc>
              <a:spcBef>
                <a:spcPts val="0"/>
              </a:spcBef>
              <a:spcAft>
                <a:spcPts val="0"/>
              </a:spcAft>
              <a:buSzPct val="58235"/>
              <a:buNone/>
            </a:pPr>
            <a:r>
              <a:rPr b="1" lang="en" sz="1700">
                <a:solidFill>
                  <a:srgbClr val="2C2C2C"/>
                </a:solidFill>
                <a:latin typeface="Lora"/>
                <a:ea typeface="Lora"/>
                <a:cs typeface="Lora"/>
                <a:sym typeface="Lora"/>
              </a:rPr>
              <a:t>Most Americans say they are wearing a mask </a:t>
            </a:r>
            <a:endParaRPr b="1" sz="1700">
              <a:solidFill>
                <a:srgbClr val="2C2C2C"/>
              </a:solidFill>
              <a:latin typeface="Lora"/>
              <a:ea typeface="Lora"/>
              <a:cs typeface="Lora"/>
              <a:sym typeface="Lora"/>
            </a:endParaRPr>
          </a:p>
          <a:p>
            <a:pPr indent="0" lvl="0" marL="0" rtl="0" algn="ctr">
              <a:lnSpc>
                <a:spcPct val="127500"/>
              </a:lnSpc>
              <a:spcBef>
                <a:spcPts val="0"/>
              </a:spcBef>
              <a:spcAft>
                <a:spcPts val="0"/>
              </a:spcAft>
              <a:buSzPct val="58235"/>
              <a:buNone/>
            </a:pPr>
            <a:r>
              <a:rPr b="1" lang="en" sz="1700">
                <a:solidFill>
                  <a:srgbClr val="2C2C2C"/>
                </a:solidFill>
                <a:latin typeface="Lora"/>
                <a:ea typeface="Lora"/>
                <a:cs typeface="Lora"/>
                <a:sym typeface="Lora"/>
              </a:rPr>
              <a:t>to slow spread of coronavirus</a:t>
            </a:r>
            <a:endParaRPr b="1" sz="2150">
              <a:latin typeface="Lora"/>
              <a:ea typeface="Lora"/>
              <a:cs typeface="Lora"/>
              <a:sym typeface="Lora"/>
            </a:endParaRPr>
          </a:p>
        </p:txBody>
      </p:sp>
      <p:pic>
        <p:nvPicPr>
          <p:cNvPr id="141" name="Google Shape;141;p22"/>
          <p:cNvPicPr preferRelativeResize="0"/>
          <p:nvPr/>
        </p:nvPicPr>
        <p:blipFill>
          <a:blip r:embed="rId4">
            <a:alphaModFix/>
          </a:blip>
          <a:stretch>
            <a:fillRect/>
          </a:stretch>
        </p:blipFill>
        <p:spPr>
          <a:xfrm>
            <a:off x="1706038" y="1447025"/>
            <a:ext cx="5731924" cy="30492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grpSp>
        <p:nvGrpSpPr>
          <p:cNvPr id="146" name="Google Shape;146;p23"/>
          <p:cNvGrpSpPr/>
          <p:nvPr/>
        </p:nvGrpSpPr>
        <p:grpSpPr>
          <a:xfrm>
            <a:off x="0" y="-457318"/>
            <a:ext cx="9144000" cy="6857993"/>
            <a:chOff x="0" y="-457318"/>
            <a:chExt cx="9144000" cy="6857993"/>
          </a:xfrm>
        </p:grpSpPr>
        <p:pic>
          <p:nvPicPr>
            <p:cNvPr id="147" name="Google Shape;147;p23"/>
            <p:cNvPicPr preferRelativeResize="0"/>
            <p:nvPr/>
          </p:nvPicPr>
          <p:blipFill>
            <a:blip r:embed="rId3">
              <a:alphaModFix/>
            </a:blip>
            <a:stretch>
              <a:fillRect/>
            </a:stretch>
          </p:blipFill>
          <p:spPr>
            <a:xfrm>
              <a:off x="0" y="-457318"/>
              <a:ext cx="9144000" cy="6857993"/>
            </a:xfrm>
            <a:prstGeom prst="rect">
              <a:avLst/>
            </a:prstGeom>
            <a:noFill/>
            <a:ln>
              <a:noFill/>
            </a:ln>
          </p:spPr>
        </p:pic>
        <p:sp>
          <p:nvSpPr>
            <p:cNvPr id="148" name="Google Shape;148;p23"/>
            <p:cNvSpPr/>
            <p:nvPr/>
          </p:nvSpPr>
          <p:spPr>
            <a:xfrm>
              <a:off x="605275" y="343775"/>
              <a:ext cx="7944300" cy="4602300"/>
            </a:xfrm>
            <a:prstGeom prst="roundRect">
              <a:avLst>
                <a:gd fmla="val 16667" name="adj"/>
              </a:avLst>
            </a:prstGeom>
            <a:solidFill>
              <a:srgbClr val="FDF0F0">
                <a:alpha val="7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9" name="Google Shape;149;p23"/>
          <p:cNvSpPr txBox="1"/>
          <p:nvPr>
            <p:ph type="title"/>
          </p:nvPr>
        </p:nvSpPr>
        <p:spPr>
          <a:xfrm>
            <a:off x="1119400" y="717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990"/>
              <a:buFont typeface="Arial"/>
              <a:buNone/>
            </a:pPr>
            <a:r>
              <a:rPr b="1" lang="en" sz="1850">
                <a:latin typeface="Lora"/>
                <a:ea typeface="Lora"/>
                <a:cs typeface="Lora"/>
                <a:sym typeface="Lora"/>
              </a:rPr>
              <a:t>Americans’ Average Depression Period During the Pandemic</a:t>
            </a:r>
            <a:endParaRPr b="1" sz="1535">
              <a:latin typeface="Lora"/>
              <a:ea typeface="Lora"/>
              <a:cs typeface="Lora"/>
              <a:sym typeface="Lora"/>
            </a:endParaRPr>
          </a:p>
        </p:txBody>
      </p:sp>
      <p:pic>
        <p:nvPicPr>
          <p:cNvPr id="150" name="Google Shape;150;p23"/>
          <p:cNvPicPr preferRelativeResize="0"/>
          <p:nvPr/>
        </p:nvPicPr>
        <p:blipFill>
          <a:blip r:embed="rId4">
            <a:alphaModFix/>
          </a:blip>
          <a:stretch>
            <a:fillRect/>
          </a:stretch>
        </p:blipFill>
        <p:spPr>
          <a:xfrm>
            <a:off x="1307888" y="1193200"/>
            <a:ext cx="6528213" cy="34670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grpSp>
        <p:nvGrpSpPr>
          <p:cNvPr id="155" name="Google Shape;155;p24"/>
          <p:cNvGrpSpPr/>
          <p:nvPr/>
        </p:nvGrpSpPr>
        <p:grpSpPr>
          <a:xfrm>
            <a:off x="0" y="-457318"/>
            <a:ext cx="9144000" cy="6857993"/>
            <a:chOff x="0" y="-457318"/>
            <a:chExt cx="9144000" cy="6857993"/>
          </a:xfrm>
        </p:grpSpPr>
        <p:pic>
          <p:nvPicPr>
            <p:cNvPr id="156" name="Google Shape;156;p24"/>
            <p:cNvPicPr preferRelativeResize="0"/>
            <p:nvPr/>
          </p:nvPicPr>
          <p:blipFill>
            <a:blip r:embed="rId3">
              <a:alphaModFix/>
            </a:blip>
            <a:stretch>
              <a:fillRect/>
            </a:stretch>
          </p:blipFill>
          <p:spPr>
            <a:xfrm>
              <a:off x="0" y="-457318"/>
              <a:ext cx="9144000" cy="6857993"/>
            </a:xfrm>
            <a:prstGeom prst="rect">
              <a:avLst/>
            </a:prstGeom>
            <a:noFill/>
            <a:ln>
              <a:noFill/>
            </a:ln>
          </p:spPr>
        </p:pic>
        <p:sp>
          <p:nvSpPr>
            <p:cNvPr id="157" name="Google Shape;157;p24"/>
            <p:cNvSpPr/>
            <p:nvPr/>
          </p:nvSpPr>
          <p:spPr>
            <a:xfrm>
              <a:off x="605275" y="343775"/>
              <a:ext cx="7944300" cy="4602300"/>
            </a:xfrm>
            <a:prstGeom prst="roundRect">
              <a:avLst>
                <a:gd fmla="val 16667" name="adj"/>
              </a:avLst>
            </a:prstGeom>
            <a:solidFill>
              <a:srgbClr val="FDF0F0">
                <a:alpha val="7381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8" name="Google Shape;158;p24"/>
          <p:cNvSpPr txBox="1"/>
          <p:nvPr>
            <p:ph type="title"/>
          </p:nvPr>
        </p:nvSpPr>
        <p:spPr>
          <a:xfrm>
            <a:off x="1119400" y="717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990"/>
              <a:buFont typeface="Arial"/>
              <a:buNone/>
            </a:pPr>
            <a:r>
              <a:rPr b="1" lang="en" sz="2220">
                <a:latin typeface="Lora"/>
                <a:ea typeface="Lora"/>
                <a:cs typeface="Lora"/>
                <a:sym typeface="Lora"/>
              </a:rPr>
              <a:t>Percentage of Food Shortages Among Americans</a:t>
            </a:r>
            <a:endParaRPr b="1" sz="1081">
              <a:latin typeface="Lora"/>
              <a:ea typeface="Lora"/>
              <a:cs typeface="Lora"/>
              <a:sym typeface="Lora"/>
            </a:endParaRPr>
          </a:p>
        </p:txBody>
      </p:sp>
      <p:pic>
        <p:nvPicPr>
          <p:cNvPr id="159" name="Google Shape;159;p24"/>
          <p:cNvPicPr preferRelativeResize="0"/>
          <p:nvPr/>
        </p:nvPicPr>
        <p:blipFill>
          <a:blip r:embed="rId4">
            <a:alphaModFix/>
          </a:blip>
          <a:stretch>
            <a:fillRect/>
          </a:stretch>
        </p:blipFill>
        <p:spPr>
          <a:xfrm>
            <a:off x="1232975" y="1285824"/>
            <a:ext cx="6579626" cy="33716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3002250" y="74525"/>
            <a:ext cx="5857800" cy="574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500">
                <a:solidFill>
                  <a:srgbClr val="2C2C2C"/>
                </a:solidFill>
                <a:latin typeface="Lora"/>
                <a:ea typeface="Lora"/>
                <a:cs typeface="Lora"/>
                <a:sym typeface="Lora"/>
              </a:rPr>
              <a:t>Next Steps?</a:t>
            </a:r>
            <a:endParaRPr sz="2500">
              <a:solidFill>
                <a:srgbClr val="2C2C2C"/>
              </a:solidFill>
              <a:latin typeface="Lora"/>
              <a:ea typeface="Lora"/>
              <a:cs typeface="Lora"/>
              <a:sym typeface="Lora"/>
            </a:endParaRPr>
          </a:p>
        </p:txBody>
      </p:sp>
      <p:sp>
        <p:nvSpPr>
          <p:cNvPr id="165" name="Google Shape;165;p25"/>
          <p:cNvSpPr txBox="1"/>
          <p:nvPr/>
        </p:nvSpPr>
        <p:spPr>
          <a:xfrm>
            <a:off x="2823250" y="603475"/>
            <a:ext cx="6445500" cy="4440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Nunito"/>
              <a:buChar char="●"/>
            </a:pPr>
            <a:r>
              <a:rPr lang="en">
                <a:latin typeface="Nunito"/>
                <a:ea typeface="Nunito"/>
                <a:cs typeface="Nunito"/>
                <a:sym typeface="Nunito"/>
              </a:rPr>
              <a:t>Inform Future Research</a:t>
            </a:r>
            <a:endParaRPr>
              <a:latin typeface="Nunito"/>
              <a:ea typeface="Nunito"/>
              <a:cs typeface="Nunito"/>
              <a:sym typeface="Nunito"/>
            </a:endParaRPr>
          </a:p>
          <a:p>
            <a:pPr indent="-317500" lvl="1" marL="914400" rtl="0" algn="l">
              <a:spcBef>
                <a:spcPts val="0"/>
              </a:spcBef>
              <a:spcAft>
                <a:spcPts val="0"/>
              </a:spcAft>
              <a:buSzPts val="1400"/>
              <a:buFont typeface="Nunito"/>
              <a:buChar char="○"/>
            </a:pPr>
            <a:r>
              <a:rPr lang="en">
                <a:latin typeface="Nunito"/>
                <a:ea typeface="Nunito"/>
                <a:cs typeface="Nunito"/>
                <a:sym typeface="Nunito"/>
              </a:rPr>
              <a:t>Why did we see certain trends occur in different racial backgrounds, gender, and regions?</a:t>
            </a:r>
            <a:endParaRPr>
              <a:latin typeface="Nunito"/>
              <a:ea typeface="Nunito"/>
              <a:cs typeface="Nunito"/>
              <a:sym typeface="Nunito"/>
            </a:endParaRPr>
          </a:p>
          <a:p>
            <a:pPr indent="-317500" lvl="1" marL="914400" rtl="0" algn="l">
              <a:spcBef>
                <a:spcPts val="0"/>
              </a:spcBef>
              <a:spcAft>
                <a:spcPts val="0"/>
              </a:spcAft>
              <a:buSzPts val="1400"/>
              <a:buFont typeface="Nunito"/>
              <a:buChar char="○"/>
            </a:pPr>
            <a:r>
              <a:rPr lang="en">
                <a:latin typeface="Nunito"/>
                <a:ea typeface="Nunito"/>
                <a:cs typeface="Nunito"/>
                <a:sym typeface="Nunito"/>
              </a:rPr>
              <a:t>Explore in bigger scale -- </a:t>
            </a:r>
            <a:endParaRPr>
              <a:latin typeface="Nunito"/>
              <a:ea typeface="Nunito"/>
              <a:cs typeface="Nunito"/>
              <a:sym typeface="Nunito"/>
            </a:endParaRPr>
          </a:p>
          <a:p>
            <a:pPr indent="-317500" lvl="0" marL="1371600" rtl="0" algn="l">
              <a:lnSpc>
                <a:spcPct val="115000"/>
              </a:lnSpc>
              <a:spcBef>
                <a:spcPts val="0"/>
              </a:spcBef>
              <a:spcAft>
                <a:spcPts val="0"/>
              </a:spcAft>
              <a:buSzPts val="1400"/>
              <a:buFont typeface="Nunito"/>
              <a:buAutoNum type="alphaLcPeriod"/>
            </a:pPr>
            <a:r>
              <a:rPr lang="en">
                <a:latin typeface="Nunito"/>
                <a:ea typeface="Nunito"/>
                <a:cs typeface="Nunito"/>
                <a:sym typeface="Nunito"/>
              </a:rPr>
              <a:t>compare depression response region with the diagnosed population, and compare with other data about </a:t>
            </a:r>
            <a:r>
              <a:rPr lang="en">
                <a:latin typeface="Nunito"/>
                <a:ea typeface="Nunito"/>
                <a:cs typeface="Nunito"/>
                <a:sym typeface="Nunito"/>
              </a:rPr>
              <a:t>quarantine population.</a:t>
            </a:r>
            <a:endParaRPr>
              <a:latin typeface="Nunito"/>
              <a:ea typeface="Nunito"/>
              <a:cs typeface="Nunito"/>
              <a:sym typeface="Nunito"/>
            </a:endParaRPr>
          </a:p>
          <a:p>
            <a:pPr indent="-317500" lvl="0" marL="1371600" rtl="0" algn="l">
              <a:lnSpc>
                <a:spcPct val="115000"/>
              </a:lnSpc>
              <a:spcBef>
                <a:spcPts val="0"/>
              </a:spcBef>
              <a:spcAft>
                <a:spcPts val="0"/>
              </a:spcAft>
              <a:buSzPts val="1400"/>
              <a:buFont typeface="Nunito"/>
              <a:buAutoNum type="alphaLcPeriod"/>
            </a:pPr>
            <a:r>
              <a:rPr lang="en">
                <a:latin typeface="Nunito"/>
                <a:ea typeface="Nunito"/>
                <a:cs typeface="Nunito"/>
                <a:sym typeface="Nunito"/>
              </a:rPr>
              <a:t>Compare household income &amp; mental score (see their correlation (Maybe we are happier when poorer?) 🤔</a:t>
            </a:r>
            <a:endParaRPr>
              <a:latin typeface="Nunito"/>
              <a:ea typeface="Nunito"/>
              <a:cs typeface="Nunito"/>
              <a:sym typeface="Nunito"/>
            </a:endParaRPr>
          </a:p>
          <a:p>
            <a:pPr indent="0" lvl="0" marL="0" rtl="0" algn="l">
              <a:spcBef>
                <a:spcPts val="0"/>
              </a:spcBef>
              <a:spcAft>
                <a:spcPts val="0"/>
              </a:spcAft>
              <a:buNone/>
            </a:pPr>
            <a:r>
              <a:t/>
            </a:r>
            <a:endParaRPr>
              <a:latin typeface="Nunito"/>
              <a:ea typeface="Nunito"/>
              <a:cs typeface="Nunito"/>
              <a:sym typeface="Nunito"/>
            </a:endParaRPr>
          </a:p>
          <a:p>
            <a:pPr indent="-317500" lvl="0" marL="457200" rtl="0" algn="l">
              <a:spcBef>
                <a:spcPts val="0"/>
              </a:spcBef>
              <a:spcAft>
                <a:spcPts val="0"/>
              </a:spcAft>
              <a:buSzPts val="1400"/>
              <a:buFont typeface="Nunito"/>
              <a:buChar char="●"/>
            </a:pPr>
            <a:r>
              <a:rPr lang="en">
                <a:latin typeface="Nunito"/>
                <a:ea typeface="Nunito"/>
                <a:cs typeface="Nunito"/>
                <a:sym typeface="Nunito"/>
              </a:rPr>
              <a:t>Inform Policy</a:t>
            </a:r>
            <a:endParaRPr>
              <a:latin typeface="Nunito"/>
              <a:ea typeface="Nunito"/>
              <a:cs typeface="Nunito"/>
              <a:sym typeface="Nunito"/>
            </a:endParaRPr>
          </a:p>
          <a:p>
            <a:pPr indent="-317500" lvl="1" marL="914400" rtl="0" algn="l">
              <a:spcBef>
                <a:spcPts val="0"/>
              </a:spcBef>
              <a:spcAft>
                <a:spcPts val="0"/>
              </a:spcAft>
              <a:buSzPts val="1400"/>
              <a:buFont typeface="Nunito"/>
              <a:buChar char="○"/>
            </a:pPr>
            <a:r>
              <a:rPr lang="en">
                <a:latin typeface="Nunito"/>
                <a:ea typeface="Nunito"/>
                <a:cs typeface="Nunito"/>
                <a:sym typeface="Nunito"/>
              </a:rPr>
              <a:t>We can use this information to get more access to mental health care to Americans who are suffering from the impact of the pandemic</a:t>
            </a:r>
            <a:endParaRPr>
              <a:latin typeface="Nunito"/>
              <a:ea typeface="Nunito"/>
              <a:cs typeface="Nunito"/>
              <a:sym typeface="Nunito"/>
            </a:endParaRPr>
          </a:p>
          <a:p>
            <a:pPr indent="-317500" lvl="1" marL="914400" rtl="0" algn="l">
              <a:spcBef>
                <a:spcPts val="0"/>
              </a:spcBef>
              <a:spcAft>
                <a:spcPts val="0"/>
              </a:spcAft>
              <a:buSzPts val="1400"/>
              <a:buFont typeface="Nunito"/>
              <a:buChar char="○"/>
            </a:pPr>
            <a:r>
              <a:rPr lang="en">
                <a:latin typeface="Nunito"/>
                <a:ea typeface="Nunito"/>
                <a:cs typeface="Nunito"/>
                <a:sym typeface="Nunito"/>
              </a:rPr>
              <a:t>Advise policy on how to tackle the pandemic through more government assistance, determining how to implement future mask mandates, and other actions to combat the virus.</a:t>
            </a:r>
            <a:endParaRPr>
              <a:latin typeface="Nunito"/>
              <a:ea typeface="Nunito"/>
              <a:cs typeface="Nunito"/>
              <a:sym typeface="Nunito"/>
            </a:endParaRPr>
          </a:p>
          <a:p>
            <a:pPr indent="0" lvl="0" marL="0" rtl="0" algn="l">
              <a:spcBef>
                <a:spcPts val="0"/>
              </a:spcBef>
              <a:spcAft>
                <a:spcPts val="0"/>
              </a:spcAft>
              <a:buNone/>
            </a:pPr>
            <a:r>
              <a:t/>
            </a:r>
            <a:endParaRPr>
              <a:latin typeface="Nunito"/>
              <a:ea typeface="Nunito"/>
              <a:cs typeface="Nunito"/>
              <a:sym typeface="Nunito"/>
            </a:endParaRPr>
          </a:p>
          <a:p>
            <a:pPr indent="-317500" lvl="0" marL="457200" rtl="0" algn="l">
              <a:spcBef>
                <a:spcPts val="0"/>
              </a:spcBef>
              <a:spcAft>
                <a:spcPts val="0"/>
              </a:spcAft>
              <a:buSzPts val="1400"/>
              <a:buFont typeface="Nunito"/>
              <a:buChar char="●"/>
            </a:pPr>
            <a:r>
              <a:rPr lang="en">
                <a:latin typeface="Nunito"/>
                <a:ea typeface="Nunito"/>
                <a:cs typeface="Nunito"/>
                <a:sym typeface="Nunito"/>
              </a:rPr>
              <a:t>Any Questions or Comments?</a:t>
            </a:r>
            <a:endParaRPr>
              <a:latin typeface="Nunito"/>
              <a:ea typeface="Nunito"/>
              <a:cs typeface="Nunito"/>
              <a:sym typeface="Nunito"/>
            </a:endParaRPr>
          </a:p>
        </p:txBody>
      </p:sp>
      <p:pic>
        <p:nvPicPr>
          <p:cNvPr id="166" name="Google Shape;166;p25"/>
          <p:cNvPicPr preferRelativeResize="0"/>
          <p:nvPr/>
        </p:nvPicPr>
        <p:blipFill>
          <a:blip r:embed="rId3">
            <a:alphaModFix/>
          </a:blip>
          <a:stretch>
            <a:fillRect/>
          </a:stretch>
        </p:blipFill>
        <p:spPr>
          <a:xfrm>
            <a:off x="-4261550" y="-12"/>
            <a:ext cx="6928634" cy="5196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type="title"/>
          </p:nvPr>
        </p:nvSpPr>
        <p:spPr>
          <a:xfrm>
            <a:off x="3335150" y="279950"/>
            <a:ext cx="6367800" cy="868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SzPts val="1100"/>
              <a:buNone/>
            </a:pPr>
            <a:r>
              <a:rPr lang="en" sz="2500">
                <a:solidFill>
                  <a:srgbClr val="2C2C2C"/>
                </a:solidFill>
                <a:latin typeface="Lora"/>
                <a:ea typeface="Lora"/>
                <a:cs typeface="Lora"/>
                <a:sym typeface="Lora"/>
              </a:rPr>
              <a:t>Reference</a:t>
            </a:r>
            <a:endParaRPr sz="3420">
              <a:latin typeface="Lora"/>
              <a:ea typeface="Lora"/>
              <a:cs typeface="Lora"/>
              <a:sym typeface="Lora"/>
            </a:endParaRPr>
          </a:p>
        </p:txBody>
      </p:sp>
      <p:sp>
        <p:nvSpPr>
          <p:cNvPr id="172" name="Google Shape;172;p26"/>
          <p:cNvSpPr txBox="1"/>
          <p:nvPr/>
        </p:nvSpPr>
        <p:spPr>
          <a:xfrm>
            <a:off x="3384750" y="1148450"/>
            <a:ext cx="83442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NORC at the University of Chicago</a:t>
            </a:r>
            <a:endParaRPr/>
          </a:p>
          <a:p>
            <a:pPr indent="0" lvl="0" marL="0" rtl="0" algn="l">
              <a:spcBef>
                <a:spcPts val="0"/>
              </a:spcBef>
              <a:spcAft>
                <a:spcPts val="0"/>
              </a:spcAft>
              <a:buNone/>
            </a:pPr>
            <a:r>
              <a:rPr lang="en" u="sng">
                <a:solidFill>
                  <a:schemeClr val="hlink"/>
                </a:solidFill>
                <a:hlinkClick r:id="rId3"/>
              </a:rPr>
              <a:t>https://www.norc.org/Research/Projects/Pages/covid-response-tracking-study.aspx</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Covid Impact Survey</a:t>
            </a:r>
            <a:endParaRPr/>
          </a:p>
          <a:p>
            <a:pPr indent="0" lvl="0" marL="0" rtl="0" algn="l">
              <a:spcBef>
                <a:spcPts val="0"/>
              </a:spcBef>
              <a:spcAft>
                <a:spcPts val="0"/>
              </a:spcAft>
              <a:buNone/>
            </a:pPr>
            <a:r>
              <a:rPr lang="en" u="sng">
                <a:solidFill>
                  <a:schemeClr val="hlink"/>
                </a:solidFill>
                <a:hlinkClick r:id="rId4"/>
              </a:rPr>
              <a:t>https://www.covid-impact.org</a:t>
            </a:r>
            <a:endParaRPr/>
          </a:p>
          <a:p>
            <a:pPr indent="0" lvl="0" marL="0" rtl="0" algn="l">
              <a:spcBef>
                <a:spcPts val="0"/>
              </a:spcBef>
              <a:spcAft>
                <a:spcPts val="0"/>
              </a:spcAft>
              <a:buNone/>
            </a:pPr>
            <a:r>
              <a:t/>
            </a:r>
            <a:endParaRPr/>
          </a:p>
        </p:txBody>
      </p:sp>
      <p:pic>
        <p:nvPicPr>
          <p:cNvPr id="173" name="Google Shape;173;p26"/>
          <p:cNvPicPr preferRelativeResize="0"/>
          <p:nvPr/>
        </p:nvPicPr>
        <p:blipFill>
          <a:blip r:embed="rId5">
            <a:alphaModFix/>
          </a:blip>
          <a:stretch>
            <a:fillRect/>
          </a:stretch>
        </p:blipFill>
        <p:spPr>
          <a:xfrm>
            <a:off x="-4261550" y="-12"/>
            <a:ext cx="6928634" cy="51964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